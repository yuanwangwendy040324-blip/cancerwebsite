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新发病例数（万）</c:v>
                </c:pt>
              </c:strCache>
            </c:strRef>
          </c:tx>
          <c:spPr>
            <a:solidFill>
              <a:srgbClr val="6D2E4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乳腺癌</c:v>
                  </c:pt>
                  <c:pt idx="1">
                    <c:v>肺癌</c:v>
                  </c:pt>
                  <c:pt idx="2">
                    <c:v>结直肠癌</c:v>
                  </c:pt>
                  <c:pt idx="3">
                    <c:v>甲状腺癌</c:v>
                  </c:pt>
                  <c:pt idx="4">
                    <c:v>胃癌</c:v>
                  </c:pt>
                  <c:pt idx="5">
                    <c:v>宫颈癌</c:v>
                  </c:pt>
                  <c:pt idx="6">
                    <c:v>肝癌</c:v>
                  </c:pt>
                  <c:pt idx="7">
                    <c:v>食管癌</c:v>
                  </c:pt>
                  <c:pt idx="8">
                    <c:v>子宫内膜癌</c:v>
                  </c:pt>
                  <c:pt idx="9">
                    <c:v>卵巢癌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42</c:v>
                </c:pt>
                <c:pt idx="1">
                  <c:v>28</c:v>
                </c:pt>
                <c:pt idx="2">
                  <c:v>24</c:v>
                </c:pt>
                <c:pt idx="3">
                  <c:v>17</c:v>
                </c:pt>
                <c:pt idx="4">
                  <c:v>15</c:v>
                </c:pt>
                <c:pt idx="5">
                  <c:v>11</c:v>
                </c:pt>
                <c:pt idx="6">
                  <c:v>11</c:v>
                </c:pt>
                <c:pt idx="7">
                  <c:v>10</c:v>
                </c:pt>
                <c:pt idx="8">
                  <c:v>8</c:v>
                </c:pt>
                <c:pt idx="9">
                  <c:v>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3A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3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5DC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A7A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A7A80"/>
                    </a:solidFill>
                    <a:latin typeface="Arial"/>
                  </a:rPr>
                  <a:t>新发病例数（万）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5年相对生存率（%）</c:v>
                </c:pt>
              </c:strCache>
            </c:strRef>
          </c:tx>
          <c:spPr>
            <a:solidFill>
              <a:srgbClr val="A26769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3A25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甲状腺癌</c:v>
                  </c:pt>
                  <c:pt idx="1">
                    <c:v>乳腺癌</c:v>
                  </c:pt>
                  <c:pt idx="2">
                    <c:v>子宫体癌</c:v>
                  </c:pt>
                  <c:pt idx="3">
                    <c:v>宫颈癌</c:v>
                  </c:pt>
                  <c:pt idx="4">
                    <c:v>结直肠癌</c:v>
                  </c:pt>
                  <c:pt idx="5">
                    <c:v>胃癌</c:v>
                  </c:pt>
                  <c:pt idx="6">
                    <c:v>食管癌</c:v>
                  </c:pt>
                  <c:pt idx="7">
                    <c:v>肺癌</c:v>
                  </c:pt>
                  <c:pt idx="8">
                    <c:v>肝癌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92.9</c:v>
                </c:pt>
                <c:pt idx="1">
                  <c:v>80.9</c:v>
                </c:pt>
                <c:pt idx="2">
                  <c:v>70.5</c:v>
                </c:pt>
                <c:pt idx="3">
                  <c:v>66.9</c:v>
                </c:pt>
                <c:pt idx="4">
                  <c:v>56.9</c:v>
                </c:pt>
                <c:pt idx="5">
                  <c:v>35.1</c:v>
                </c:pt>
                <c:pt idx="6">
                  <c:v>30.3</c:v>
                </c:pt>
                <c:pt idx="7">
                  <c:v>19.7</c:v>
                </c:pt>
                <c:pt idx="8">
                  <c:v>12.1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3A25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A253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</c:scaling>
        <c:delete val="0"/>
        <c:axPos val="l"/>
        <c:majorGridlines>
          <c:spPr>
            <a:ln w="9525" cap="flat">
              <a:solidFill>
                <a:srgbClr val="E5DCD3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8A7A8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8A7A80"/>
                    </a:solidFill>
                    <a:latin typeface="Arial"/>
                  </a:rPr>
                  <a:t>5年相对生存率（%）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8A7A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3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2011680"/>
            <a:ext cx="5486400" cy="5486400"/>
          </a:xfrm>
          <a:prstGeom prst="ellipse">
            <a:avLst/>
          </a:prstGeom>
          <a:solidFill>
            <a:srgbClr val="A26769">
              <a:alpha val="3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194560" y="4572000"/>
            <a:ext cx="4572000" cy="4572000"/>
          </a:xfrm>
          <a:prstGeom prst="ellipse">
            <a:avLst/>
          </a:prstGeom>
          <a:solidFill>
            <a:srgbClr val="A26769">
              <a:alpha val="3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148840"/>
            <a:ext cx="9601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中国女性癌症数据</a:t>
            </a:r>
            <a:endParaRPr lang="en-US" sz="4000" dirty="0"/>
          </a:p>
          <a:p>
            <a:pPr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与乳腺癌用药分析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68680" y="3794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发病率概况  ·  五年生存率  ·  乳腺癌药物分类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68680" y="5989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数据来源：国家癌症中心公开报告  ·  FDA openFDA 药品标签数据库（经 ToolUniverse 检索）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6D2E4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目录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685800" y="1600200"/>
            <a:ext cx="10058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965960" y="16002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中国女性癌症发病率概况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1965960" y="2039112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2020年新发病例前十位癌种及死亡原因排名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2770632"/>
            <a:ext cx="10058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965960" y="2770632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主要癌种五年相对生存率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965960" y="3209544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甲状腺癌、乳腺癌等九类癌症生存率对比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941064"/>
            <a:ext cx="10058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1965960" y="394106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乳腺癌常用药物分类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965960" y="4379976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化疗 · 内分泌治疗 · 靶向治疗 · 免疫治疗 · 影像诊断用药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85800" y="5111496"/>
            <a:ext cx="100584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2676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1965960" y="511149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数据来源与说明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1965960" y="5550408"/>
            <a:ext cx="8961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国家癌症中心报告 与 ToolUniverse / openFDA 检索方法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2 页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中国女性癌症数据与乳腺癌用药分析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668" y="542788"/>
            <a:ext cx="487192" cy="487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中国女性癌症发病率概况（2020年）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4630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女性新发癌症总数209万例，占全国癌症新发病例46%；以下十种癌症占女性新发癌症总数的81%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7406640" cy="4892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Shape 3"/>
          <p:cNvSpPr/>
          <p:nvPr/>
        </p:nvSpPr>
        <p:spPr>
          <a:xfrm>
            <a:off x="8321040" y="1463040"/>
            <a:ext cx="3246120" cy="4892040"/>
          </a:xfrm>
          <a:prstGeom prst="roundRect">
            <a:avLst>
              <a:gd name="adj" fmla="val 3380"/>
            </a:avLst>
          </a:prstGeom>
          <a:solidFill>
            <a:srgbClr val="F7F1EC"/>
          </a:solidFill>
          <a:ln/>
        </p:spPr>
      </p:sp>
      <p:sp>
        <p:nvSpPr>
          <p:cNvPr id="8" name="Text 4"/>
          <p:cNvSpPr/>
          <p:nvPr/>
        </p:nvSpPr>
        <p:spPr>
          <a:xfrm>
            <a:off x="8595360" y="1691640"/>
            <a:ext cx="2743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女性癌症死亡原因</a:t>
            </a:r>
            <a:endParaRPr lang="en-US" sz="1600" dirty="0"/>
          </a:p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</a:t>
            </a:r>
            <a:endParaRPr lang="en-US" sz="1600" dirty="0"/>
          </a:p>
        </p:txBody>
      </p:sp>
      <p:sp>
        <p:nvSpPr>
          <p:cNvPr id="9" name="Shape 5"/>
          <p:cNvSpPr/>
          <p:nvPr/>
        </p:nvSpPr>
        <p:spPr>
          <a:xfrm>
            <a:off x="8595360" y="2514600"/>
            <a:ext cx="384048" cy="38404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0" name="Text 6"/>
          <p:cNvSpPr/>
          <p:nvPr/>
        </p:nvSpPr>
        <p:spPr>
          <a:xfrm>
            <a:off x="8595360" y="2514600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9098280" y="2532888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肺癌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8595360" y="3227832"/>
            <a:ext cx="384048" cy="38404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3" name="Text 9"/>
          <p:cNvSpPr/>
          <p:nvPr/>
        </p:nvSpPr>
        <p:spPr>
          <a:xfrm>
            <a:off x="8595360" y="3227832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9098280" y="324612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结直肠癌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8595360" y="3941064"/>
            <a:ext cx="384048" cy="38404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6" name="Text 12"/>
          <p:cNvSpPr/>
          <p:nvPr/>
        </p:nvSpPr>
        <p:spPr>
          <a:xfrm>
            <a:off x="8595360" y="3941064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9098280" y="395935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肝癌</a:t>
            </a:r>
            <a:endParaRPr lang="en-US" sz="1500" dirty="0"/>
          </a:p>
        </p:txBody>
      </p:sp>
      <p:sp>
        <p:nvSpPr>
          <p:cNvPr id="18" name="Shape 14"/>
          <p:cNvSpPr/>
          <p:nvPr/>
        </p:nvSpPr>
        <p:spPr>
          <a:xfrm>
            <a:off x="8595360" y="4654296"/>
            <a:ext cx="384048" cy="38404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19" name="Text 15"/>
          <p:cNvSpPr/>
          <p:nvPr/>
        </p:nvSpPr>
        <p:spPr>
          <a:xfrm>
            <a:off x="8595360" y="4654296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9098280" y="4672584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胃癌</a:t>
            </a:r>
            <a:endParaRPr lang="en-US" sz="1500" dirty="0"/>
          </a:p>
        </p:txBody>
      </p:sp>
      <p:sp>
        <p:nvSpPr>
          <p:cNvPr id="21" name="Shape 17"/>
          <p:cNvSpPr/>
          <p:nvPr/>
        </p:nvSpPr>
        <p:spPr>
          <a:xfrm>
            <a:off x="8595360" y="5367528"/>
            <a:ext cx="384048" cy="384048"/>
          </a:xfrm>
          <a:prstGeom prst="ellipse">
            <a:avLst/>
          </a:prstGeom>
          <a:solidFill>
            <a:srgbClr val="A26769"/>
          </a:solidFill>
          <a:ln/>
        </p:spPr>
      </p:sp>
      <p:sp>
        <p:nvSpPr>
          <p:cNvPr id="22" name="Text 18"/>
          <p:cNvSpPr/>
          <p:nvPr/>
        </p:nvSpPr>
        <p:spPr>
          <a:xfrm>
            <a:off x="8595360" y="536752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9098280" y="5385816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乳腺癌</a:t>
            </a:r>
            <a:endParaRPr lang="en-US" sz="1500" dirty="0"/>
          </a:p>
        </p:txBody>
      </p:sp>
      <p:sp>
        <p:nvSpPr>
          <p:cNvPr id="24" name="Text 20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3 页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中国女性癌症数据与乳腺癌用药分析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668" y="542788"/>
            <a:ext cx="487192" cy="487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中国主要癌种五年相对生存率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4630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全部癌种总体年龄标准化五年相对生存率为 43.7%（2019-2021年），较十年前提升约10个百分点</a:t>
            </a:r>
            <a:endParaRPr lang="en-US" sz="13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463040"/>
          <a:ext cx="10927080" cy="4434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5989320"/>
            <a:ext cx="10927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注：甲状腺癌 84.3%（2012-2015队列）/ 92.9%（2008-2021最新队列）；子宫体癌区间为 68.1%-72.8%，图中取中值展示</a:t>
            </a:r>
            <a:endParaRPr lang="en-US" sz="1050" dirty="0"/>
          </a:p>
        </p:txBody>
      </p:sp>
      <p:sp>
        <p:nvSpPr>
          <p:cNvPr id="8" name="Text 4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4 页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中国女性癌症数据与乳腺癌用药分析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668" y="542788"/>
            <a:ext cx="487192" cy="487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乳腺癌常用药物 · 化疗药物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4630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细胞毒类药物，通过FDA适应症检索（breast cancer）获取的代表性获批药物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5326380" cy="1383792"/>
          </a:xfrm>
          <a:prstGeom prst="roundRect">
            <a:avLst>
              <a:gd name="adj" fmla="val 6608"/>
            </a:avLst>
          </a:prstGeom>
          <a:solidFill>
            <a:srgbClr val="F7F1EC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691640"/>
            <a:ext cx="82296" cy="384048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8" name="Text 5"/>
          <p:cNvSpPr/>
          <p:nvPr/>
        </p:nvSpPr>
        <p:spPr>
          <a:xfrm>
            <a:off x="1024128" y="1655064"/>
            <a:ext cx="47777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蒽环类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24128" y="2130552"/>
            <a:ext cx="4732020" cy="60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多柔比星 Doxorubicin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表柔比星 Epirubicin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22492" y="1508760"/>
            <a:ext cx="5326380" cy="1383792"/>
          </a:xfrm>
          <a:prstGeom prst="roundRect">
            <a:avLst>
              <a:gd name="adj" fmla="val 6608"/>
            </a:avLst>
          </a:prstGeom>
          <a:solidFill>
            <a:srgbClr val="F7F1EC"/>
          </a:solidFill>
          <a:ln/>
        </p:spPr>
      </p:sp>
      <p:sp>
        <p:nvSpPr>
          <p:cNvPr id="11" name="Shape 8"/>
          <p:cNvSpPr/>
          <p:nvPr/>
        </p:nvSpPr>
        <p:spPr>
          <a:xfrm>
            <a:off x="6423660" y="1691640"/>
            <a:ext cx="82296" cy="384048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12" name="Text 9"/>
          <p:cNvSpPr/>
          <p:nvPr/>
        </p:nvSpPr>
        <p:spPr>
          <a:xfrm>
            <a:off x="6606540" y="1655064"/>
            <a:ext cx="47777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紫杉类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06540" y="2130552"/>
            <a:ext cx="4732020" cy="60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紫杉醇 Paclitaxel（含白蛋白结合型 Abraxane）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多西他赛 Docetaxel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3148584"/>
            <a:ext cx="5326380" cy="1383792"/>
          </a:xfrm>
          <a:prstGeom prst="roundRect">
            <a:avLst>
              <a:gd name="adj" fmla="val 6608"/>
            </a:avLst>
          </a:prstGeom>
          <a:solidFill>
            <a:srgbClr val="F7F1EC"/>
          </a:solidFill>
          <a:ln/>
        </p:spPr>
      </p:sp>
      <p:sp>
        <p:nvSpPr>
          <p:cNvPr id="15" name="Shape 12"/>
          <p:cNvSpPr/>
          <p:nvPr/>
        </p:nvSpPr>
        <p:spPr>
          <a:xfrm>
            <a:off x="841248" y="3331464"/>
            <a:ext cx="82296" cy="384048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16" name="Text 13"/>
          <p:cNvSpPr/>
          <p:nvPr/>
        </p:nvSpPr>
        <p:spPr>
          <a:xfrm>
            <a:off x="1024128" y="3294888"/>
            <a:ext cx="47777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抗代谢类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24128" y="3770376"/>
            <a:ext cx="4732020" cy="60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卡培他滨 Capecitabine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吉西他滨 Gemcitabine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甲氨蝶呤 Methotrexate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22492" y="3148584"/>
            <a:ext cx="5326380" cy="1383792"/>
          </a:xfrm>
          <a:prstGeom prst="roundRect">
            <a:avLst>
              <a:gd name="adj" fmla="val 6608"/>
            </a:avLst>
          </a:prstGeom>
          <a:solidFill>
            <a:srgbClr val="F7F1EC"/>
          </a:solidFill>
          <a:ln/>
        </p:spPr>
      </p:sp>
      <p:sp>
        <p:nvSpPr>
          <p:cNvPr id="19" name="Shape 16"/>
          <p:cNvSpPr/>
          <p:nvPr/>
        </p:nvSpPr>
        <p:spPr>
          <a:xfrm>
            <a:off x="6423660" y="3331464"/>
            <a:ext cx="82296" cy="384048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20" name="Text 17"/>
          <p:cNvSpPr/>
          <p:nvPr/>
        </p:nvSpPr>
        <p:spPr>
          <a:xfrm>
            <a:off x="6606540" y="3294888"/>
            <a:ext cx="47777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非紫杉类微管抑制剂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606540" y="3770376"/>
            <a:ext cx="4732020" cy="60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艾立布林 Eribulin Mesylate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Ixabepilone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640080" y="4788408"/>
            <a:ext cx="5326380" cy="1383792"/>
          </a:xfrm>
          <a:prstGeom prst="roundRect">
            <a:avLst>
              <a:gd name="adj" fmla="val 6608"/>
            </a:avLst>
          </a:prstGeom>
          <a:solidFill>
            <a:srgbClr val="F7F1EC"/>
          </a:solidFill>
          <a:ln/>
        </p:spPr>
      </p:sp>
      <p:sp>
        <p:nvSpPr>
          <p:cNvPr id="23" name="Shape 20"/>
          <p:cNvSpPr/>
          <p:nvPr/>
        </p:nvSpPr>
        <p:spPr>
          <a:xfrm>
            <a:off x="841248" y="4971288"/>
            <a:ext cx="82296" cy="384048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24" name="Text 21"/>
          <p:cNvSpPr/>
          <p:nvPr/>
        </p:nvSpPr>
        <p:spPr>
          <a:xfrm>
            <a:off x="1024128" y="4934712"/>
            <a:ext cx="47777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辅助保护剂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1024128" y="5410200"/>
            <a:ext cx="4732020" cy="60655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地拉唑生 Dexrazoxane（心脏保护剂，常与蒽环类联用）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5 页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中国女性癌症数据与乳腺癌用药分析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668" y="542788"/>
            <a:ext cx="487192" cy="487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乳腺癌常用药物 · 内分泌治疗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4630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针对激素受体阳性（HR+）乳腺癌，阻断雌激素信号通路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5326380" cy="2203704"/>
          </a:xfrm>
          <a:prstGeom prst="roundRect">
            <a:avLst>
              <a:gd name="adj" fmla="val 4149"/>
            </a:avLst>
          </a:prstGeom>
          <a:solidFill>
            <a:srgbClr val="F7F1EC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691640"/>
            <a:ext cx="82296" cy="384048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8" name="Text 5"/>
          <p:cNvSpPr/>
          <p:nvPr/>
        </p:nvSpPr>
        <p:spPr>
          <a:xfrm>
            <a:off x="1024128" y="1655064"/>
            <a:ext cx="47777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SERM 选择性雌激素受体调节剂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24128" y="2130552"/>
            <a:ext cx="473202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他莫昔芬 Tamoxifen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托瑞米芬 Toremifene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雷洛昔芬 Raloxifene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222492" y="1508760"/>
            <a:ext cx="5326380" cy="2203704"/>
          </a:xfrm>
          <a:prstGeom prst="roundRect">
            <a:avLst>
              <a:gd name="adj" fmla="val 4149"/>
            </a:avLst>
          </a:prstGeom>
          <a:solidFill>
            <a:srgbClr val="F7F1EC"/>
          </a:solidFill>
          <a:ln/>
        </p:spPr>
      </p:sp>
      <p:sp>
        <p:nvSpPr>
          <p:cNvPr id="11" name="Shape 8"/>
          <p:cNvSpPr/>
          <p:nvPr/>
        </p:nvSpPr>
        <p:spPr>
          <a:xfrm>
            <a:off x="6423660" y="1691640"/>
            <a:ext cx="82296" cy="384048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12" name="Text 9"/>
          <p:cNvSpPr/>
          <p:nvPr/>
        </p:nvSpPr>
        <p:spPr>
          <a:xfrm>
            <a:off x="6606540" y="1655064"/>
            <a:ext cx="47777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SERD 选择性雌激素受体下调剂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606540" y="2130552"/>
            <a:ext cx="473202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氟维司群 Fulvestrant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Elacestrant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Imlunestrant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Vepdegestrant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40080" y="3968496"/>
            <a:ext cx="5326380" cy="2203704"/>
          </a:xfrm>
          <a:prstGeom prst="roundRect">
            <a:avLst>
              <a:gd name="adj" fmla="val 4149"/>
            </a:avLst>
          </a:prstGeom>
          <a:solidFill>
            <a:srgbClr val="F7F1EC"/>
          </a:solidFill>
          <a:ln/>
        </p:spPr>
      </p:sp>
      <p:sp>
        <p:nvSpPr>
          <p:cNvPr id="15" name="Shape 12"/>
          <p:cNvSpPr/>
          <p:nvPr/>
        </p:nvSpPr>
        <p:spPr>
          <a:xfrm>
            <a:off x="841248" y="4151376"/>
            <a:ext cx="82296" cy="384048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16" name="Text 13"/>
          <p:cNvSpPr/>
          <p:nvPr/>
        </p:nvSpPr>
        <p:spPr>
          <a:xfrm>
            <a:off x="1024128" y="4114800"/>
            <a:ext cx="47777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芳香化酶抑制剂 AI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024128" y="4590288"/>
            <a:ext cx="473202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阿那曲唑 Anastrozole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来曲唑 Letrozole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依西美坦 Exemestane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222492" y="3968496"/>
            <a:ext cx="5326380" cy="2203704"/>
          </a:xfrm>
          <a:prstGeom prst="roundRect">
            <a:avLst>
              <a:gd name="adj" fmla="val 4149"/>
            </a:avLst>
          </a:prstGeom>
          <a:solidFill>
            <a:srgbClr val="F7F1EC"/>
          </a:solidFill>
          <a:ln/>
        </p:spPr>
      </p:sp>
      <p:sp>
        <p:nvSpPr>
          <p:cNvPr id="19" name="Shape 16"/>
          <p:cNvSpPr/>
          <p:nvPr/>
        </p:nvSpPr>
        <p:spPr>
          <a:xfrm>
            <a:off x="6423660" y="4151376"/>
            <a:ext cx="82296" cy="384048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20" name="Text 17"/>
          <p:cNvSpPr/>
          <p:nvPr/>
        </p:nvSpPr>
        <p:spPr>
          <a:xfrm>
            <a:off x="6606540" y="4114800"/>
            <a:ext cx="47777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卵巢功能抑制剂 OFS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6606540" y="4590288"/>
            <a:ext cx="4732020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戈舍瑞林 Goserelin（GnRH激动剂）</a:t>
            </a:r>
            <a:endParaRPr lang="en-US" sz="1250" dirty="0"/>
          </a:p>
        </p:txBody>
      </p:sp>
      <p:sp>
        <p:nvSpPr>
          <p:cNvPr id="22" name="Text 19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6 页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中国女性癌症数据与乳腺癌用药分析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668" y="542788"/>
            <a:ext cx="487192" cy="487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乳腺癌常用药物 · 靶向治疗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4630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 HER2、CDK4/6、PARP、PI3K/AKT/mTOR 及骨靶向等通路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640080" y="1508760"/>
            <a:ext cx="3465576" cy="2203704"/>
          </a:xfrm>
          <a:prstGeom prst="roundRect">
            <a:avLst>
              <a:gd name="adj" fmla="val 4149"/>
            </a:avLst>
          </a:prstGeom>
          <a:solidFill>
            <a:srgbClr val="F7F1EC"/>
          </a:solidFill>
          <a:ln/>
        </p:spPr>
      </p:sp>
      <p:sp>
        <p:nvSpPr>
          <p:cNvPr id="7" name="Shape 4"/>
          <p:cNvSpPr/>
          <p:nvPr/>
        </p:nvSpPr>
        <p:spPr>
          <a:xfrm>
            <a:off x="841248" y="1691640"/>
            <a:ext cx="82296" cy="384048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8" name="Text 5"/>
          <p:cNvSpPr/>
          <p:nvPr/>
        </p:nvSpPr>
        <p:spPr>
          <a:xfrm>
            <a:off x="1024128" y="1655064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 单抗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024128" y="2130552"/>
            <a:ext cx="2871216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曲妥珠单抗 Trastuzumab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帕妥珠单抗 Pertuzumab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Margetuximab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361688" y="1508760"/>
            <a:ext cx="3465576" cy="2203704"/>
          </a:xfrm>
          <a:prstGeom prst="roundRect">
            <a:avLst>
              <a:gd name="adj" fmla="val 4149"/>
            </a:avLst>
          </a:prstGeom>
          <a:solidFill>
            <a:srgbClr val="F7F1EC"/>
          </a:solidFill>
          <a:ln/>
        </p:spPr>
      </p:sp>
      <p:sp>
        <p:nvSpPr>
          <p:cNvPr id="11" name="Shape 8"/>
          <p:cNvSpPr/>
          <p:nvPr/>
        </p:nvSpPr>
        <p:spPr>
          <a:xfrm>
            <a:off x="4562856" y="1691640"/>
            <a:ext cx="82296" cy="384048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12" name="Text 9"/>
          <p:cNvSpPr/>
          <p:nvPr/>
        </p:nvSpPr>
        <p:spPr>
          <a:xfrm>
            <a:off x="4745736" y="1655064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HER2 小分子 TKI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4745736" y="2130552"/>
            <a:ext cx="2871216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拉帕替尼 Lapatinib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来那替尼 Neratinib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图卡替尼 Tucatinib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8083296" y="1508760"/>
            <a:ext cx="3465576" cy="2203704"/>
          </a:xfrm>
          <a:prstGeom prst="roundRect">
            <a:avLst>
              <a:gd name="adj" fmla="val 4149"/>
            </a:avLst>
          </a:prstGeom>
          <a:solidFill>
            <a:srgbClr val="F7F1EC"/>
          </a:solidFill>
          <a:ln/>
        </p:spPr>
      </p:sp>
      <p:sp>
        <p:nvSpPr>
          <p:cNvPr id="15" name="Shape 12"/>
          <p:cNvSpPr/>
          <p:nvPr/>
        </p:nvSpPr>
        <p:spPr>
          <a:xfrm>
            <a:off x="8284464" y="1691640"/>
            <a:ext cx="82296" cy="384048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16" name="Text 13"/>
          <p:cNvSpPr/>
          <p:nvPr/>
        </p:nvSpPr>
        <p:spPr>
          <a:xfrm>
            <a:off x="8467344" y="1655064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 抗体偶联药物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8467344" y="2130552"/>
            <a:ext cx="2871216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T-DM1（Kadcyla）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T-DXd（Enhertu）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Trodelvy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Datroway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640080" y="3968496"/>
            <a:ext cx="3465576" cy="2203704"/>
          </a:xfrm>
          <a:prstGeom prst="roundRect">
            <a:avLst>
              <a:gd name="adj" fmla="val 4149"/>
            </a:avLst>
          </a:prstGeom>
          <a:solidFill>
            <a:srgbClr val="F7F1EC"/>
          </a:solidFill>
          <a:ln/>
        </p:spPr>
      </p:sp>
      <p:sp>
        <p:nvSpPr>
          <p:cNvPr id="19" name="Shape 16"/>
          <p:cNvSpPr/>
          <p:nvPr/>
        </p:nvSpPr>
        <p:spPr>
          <a:xfrm>
            <a:off x="841248" y="4151376"/>
            <a:ext cx="82296" cy="384048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20" name="Text 17"/>
          <p:cNvSpPr/>
          <p:nvPr/>
        </p:nvSpPr>
        <p:spPr>
          <a:xfrm>
            <a:off x="1024128" y="411480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CDK4/6 抑制剂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024128" y="4590288"/>
            <a:ext cx="2871216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哌柏西利 Palbociclib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瑞波西利 Ribociclib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阿贝西利 Abemaciclib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361688" y="3968496"/>
            <a:ext cx="3465576" cy="2203704"/>
          </a:xfrm>
          <a:prstGeom prst="roundRect">
            <a:avLst>
              <a:gd name="adj" fmla="val 4149"/>
            </a:avLst>
          </a:prstGeom>
          <a:solidFill>
            <a:srgbClr val="F7F1EC"/>
          </a:solidFill>
          <a:ln/>
        </p:spPr>
      </p:sp>
      <p:sp>
        <p:nvSpPr>
          <p:cNvPr id="23" name="Shape 20"/>
          <p:cNvSpPr/>
          <p:nvPr/>
        </p:nvSpPr>
        <p:spPr>
          <a:xfrm>
            <a:off x="4562856" y="4151376"/>
            <a:ext cx="82296" cy="384048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24" name="Text 21"/>
          <p:cNvSpPr/>
          <p:nvPr/>
        </p:nvSpPr>
        <p:spPr>
          <a:xfrm>
            <a:off x="4745736" y="411480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PARP 抑制剂</a:t>
            </a:r>
            <a:endParaRPr lang="en-US" sz="1500" dirty="0"/>
          </a:p>
        </p:txBody>
      </p:sp>
      <p:sp>
        <p:nvSpPr>
          <p:cNvPr id="25" name="Text 22"/>
          <p:cNvSpPr/>
          <p:nvPr/>
        </p:nvSpPr>
        <p:spPr>
          <a:xfrm>
            <a:off x="4745736" y="4590288"/>
            <a:ext cx="2871216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奥拉帕利 Olaparib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他拉唑帕利 Talazoparib</a:t>
            </a:r>
            <a:endParaRPr lang="en-US" sz="1250" dirty="0"/>
          </a:p>
        </p:txBody>
      </p:sp>
      <p:sp>
        <p:nvSpPr>
          <p:cNvPr id="26" name="Shape 23"/>
          <p:cNvSpPr/>
          <p:nvPr/>
        </p:nvSpPr>
        <p:spPr>
          <a:xfrm>
            <a:off x="8083296" y="3968496"/>
            <a:ext cx="3465576" cy="2203704"/>
          </a:xfrm>
          <a:prstGeom prst="roundRect">
            <a:avLst>
              <a:gd name="adj" fmla="val 4149"/>
            </a:avLst>
          </a:prstGeom>
          <a:solidFill>
            <a:srgbClr val="F7F1EC"/>
          </a:solidFill>
          <a:ln/>
        </p:spPr>
      </p:sp>
      <p:sp>
        <p:nvSpPr>
          <p:cNvPr id="27" name="Shape 24"/>
          <p:cNvSpPr/>
          <p:nvPr/>
        </p:nvSpPr>
        <p:spPr>
          <a:xfrm>
            <a:off x="8284464" y="4151376"/>
            <a:ext cx="82296" cy="384048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28" name="Text 25"/>
          <p:cNvSpPr/>
          <p:nvPr/>
        </p:nvSpPr>
        <p:spPr>
          <a:xfrm>
            <a:off x="8467344" y="4114800"/>
            <a:ext cx="291693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PI3K / AKT / mTOR 通路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8467344" y="4590288"/>
            <a:ext cx="2871216" cy="14264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Alpelisib（PI3K）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Capivasertib（AKT）</a:t>
            </a:r>
            <a:endParaRPr lang="en-US" sz="12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依维莫司 Everolimus（mTOR）</a:t>
            </a:r>
            <a:endParaRPr lang="en-US" sz="1250" dirty="0"/>
          </a:p>
        </p:txBody>
      </p:sp>
      <p:sp>
        <p:nvSpPr>
          <p:cNvPr id="30" name="Text 27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7 页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中国女性癌症数据与乳腺癌用药分析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457200"/>
            <a:ext cx="658368" cy="658368"/>
          </a:xfrm>
          <a:prstGeom prst="ellipse">
            <a:avLst/>
          </a:prstGeom>
          <a:solidFill>
            <a:srgbClr val="A2676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668" y="542788"/>
            <a:ext cx="487192" cy="48719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63040" y="457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A25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乳腺癌常用药物 · 免疫治疗 与 影像诊断用药</a:t>
            </a:r>
            <a:endParaRPr lang="en-US" sz="2400" dirty="0"/>
          </a:p>
        </p:txBody>
      </p:sp>
      <p:sp>
        <p:nvSpPr>
          <p:cNvPr id="5" name="Shape 2"/>
          <p:cNvSpPr/>
          <p:nvPr/>
        </p:nvSpPr>
        <p:spPr>
          <a:xfrm>
            <a:off x="640080" y="1508760"/>
            <a:ext cx="5212080" cy="4709160"/>
          </a:xfrm>
          <a:prstGeom prst="roundRect">
            <a:avLst>
              <a:gd name="adj" fmla="val 2330"/>
            </a:avLst>
          </a:prstGeom>
          <a:solidFill>
            <a:srgbClr val="F7F1EC"/>
          </a:solidFill>
          <a:ln/>
        </p:spPr>
      </p:sp>
      <p:sp>
        <p:nvSpPr>
          <p:cNvPr id="6" name="Shape 3"/>
          <p:cNvSpPr/>
          <p:nvPr/>
        </p:nvSpPr>
        <p:spPr>
          <a:xfrm>
            <a:off x="868680" y="1764792"/>
            <a:ext cx="82296" cy="411480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7" name="Text 4"/>
          <p:cNvSpPr/>
          <p:nvPr/>
        </p:nvSpPr>
        <p:spPr>
          <a:xfrm>
            <a:off x="1051560" y="17099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免疫治疗药物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51560" y="233172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PD-1 抑制剂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51560" y="2743200"/>
            <a:ext cx="4434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帕博利珠单抗 Pembrolizumab</a:t>
            </a:r>
            <a:endParaRPr lang="en-US" sz="13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主要用于三阴性乳腺癌（TNBC）的新辅助 / 辅助治疗，可提升病理完全缓解率（pCR）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309360" y="1508760"/>
            <a:ext cx="5212080" cy="4709160"/>
          </a:xfrm>
          <a:prstGeom prst="roundRect">
            <a:avLst>
              <a:gd name="adj" fmla="val 2330"/>
            </a:avLst>
          </a:prstGeom>
          <a:solidFill>
            <a:srgbClr val="F7F1EC"/>
          </a:solidFill>
          <a:ln/>
        </p:spPr>
      </p:sp>
      <p:sp>
        <p:nvSpPr>
          <p:cNvPr id="11" name="Shape 8"/>
          <p:cNvSpPr/>
          <p:nvPr/>
        </p:nvSpPr>
        <p:spPr>
          <a:xfrm>
            <a:off x="6537960" y="1764792"/>
            <a:ext cx="82296" cy="411480"/>
          </a:xfrm>
          <a:prstGeom prst="roundRect">
            <a:avLst>
              <a:gd name="adj" fmla="val 22222"/>
            </a:avLst>
          </a:prstGeom>
          <a:solidFill>
            <a:srgbClr val="A26769"/>
          </a:solidFill>
          <a:ln/>
        </p:spPr>
      </p:sp>
      <p:sp>
        <p:nvSpPr>
          <p:cNvPr id="12" name="Text 9"/>
          <p:cNvSpPr/>
          <p:nvPr/>
        </p:nvSpPr>
        <p:spPr>
          <a:xfrm>
            <a:off x="6720840" y="1709928"/>
            <a:ext cx="4572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6D2E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影像诊断用药（非治疗药物）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6720840" y="2331720"/>
            <a:ext cx="4434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用于前哨淋巴结显像 / PET 显像，帮助手术定位与分期，不具治疗作用：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720840" y="2926080"/>
            <a:ext cx="44348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锝[99mTc]甲氧异腈 Technetium Tc99m Sestamibi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锝[99mTc]硫胶体 Technetium Tc99m Sulfur Colloid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Tilmanocept（前哨淋巴结显像剂）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3A25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氟[18F]雌二醇 Fluoroestradiol F18（ER表达PET显像）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9171432" y="6446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8 页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A7A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中国女性癌症数据与乳腺癌用药分析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6D2E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194560" y="-2194560"/>
            <a:ext cx="5029200" cy="5029200"/>
          </a:xfrm>
          <a:prstGeom prst="ellipse">
            <a:avLst/>
          </a:prstGeom>
          <a:solidFill>
            <a:srgbClr val="A26769">
              <a:alpha val="3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64008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8058" y="735178"/>
            <a:ext cx="541325" cy="54132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0" y="59436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数据来源与方法说明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68680" y="160020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发病率 / 死亡率数据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1984248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国家癌症中心公开发布的《全国癌症报告》（2020年发病数据、2022年疾病负担报告）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68680" y="310896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五年生存率数据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68680" y="3493008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国家癌症中心历年生存率监测报告（2003-2005、2012-2015、2008-2021多期队列数据）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868680" y="4617720"/>
            <a:ext cx="10424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乳腺癌药物数据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868680" y="5001768"/>
            <a:ext cx="1042416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通过 ToolUniverse（github.com/mims-harvard/ToolUniverse）调用其集成的 FDA 药品标签数据库工具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FDA_get_drug_names_by_indication_aggregated，检索适应症为 "breast cancer" 的美国FDA获批药物，</a:t>
            </a:r>
            <a:endParaRPr lang="en-US" sz="13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共获得 79 个通用名、423 条标签记录，去重后按作用机制人工归类为五大类别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68680" y="6172200"/>
            <a:ext cx="10424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ECE2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说明：ToolUniverse 本身不含人群癌症流行病学统计数据（发病率/生存率），该部分数据仍来自国家癌症中心官方报告；ToolUniverse 在本次分析中的作用是提供结构化、可复核的美国FDA药品适应症检索能力。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2026-08-24T02:48:19Z</dcterms:created>
  <dcterms:modified xsi:type="dcterms:W3CDTF">2026-08-24T02:48:19Z</dcterms:modified>
</cp:coreProperties>
</file>